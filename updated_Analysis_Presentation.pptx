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3" r:id="rId8"/>
    <p:sldId id="274" r:id="rId9"/>
    <p:sldId id="275" r:id="rId10"/>
    <p:sldId id="279" r:id="rId11"/>
    <p:sldId id="262" r:id="rId12"/>
    <p:sldId id="276" r:id="rId13"/>
    <p:sldId id="263" r:id="rId14"/>
    <p:sldId id="264" r:id="rId15"/>
    <p:sldId id="277" r:id="rId16"/>
    <p:sldId id="265" r:id="rId17"/>
    <p:sldId id="278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HAS\Downloads\f667cb3a1a7640b69041410df44b2774\Zomato_submission\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[Data.xlsx]Pivot_table!PivotTable10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US" sz="1800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4508333333333333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Pivot_table!$B$272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Pivot_table!$A$273:$A$288</c:f>
              <c:strCache>
                <c:ptCount val="15"/>
                <c:pt idx="0">
                  <c:v>India</c:v>
                </c:pt>
                <c:pt idx="1">
                  <c:v>United States of America</c:v>
                </c:pt>
                <c:pt idx="2">
                  <c:v>United Kingdom</c:v>
                </c:pt>
                <c:pt idx="3">
                  <c:v>Brazil</c:v>
                </c:pt>
                <c:pt idx="4">
                  <c:v>South Africa</c:v>
                </c:pt>
                <c:pt idx="5">
                  <c:v>United Arab Emirates</c:v>
                </c:pt>
                <c:pt idx="6">
                  <c:v>New Zealand</c:v>
                </c:pt>
                <c:pt idx="7">
                  <c:v>Turkey</c:v>
                </c:pt>
                <c:pt idx="8">
                  <c:v>Australia</c:v>
                </c:pt>
                <c:pt idx="9">
                  <c:v>Philippines</c:v>
                </c:pt>
                <c:pt idx="10">
                  <c:v>Indonesia</c:v>
                </c:pt>
                <c:pt idx="11">
                  <c:v>Sri Lanka</c:v>
                </c:pt>
                <c:pt idx="12">
                  <c:v>Singapore</c:v>
                </c:pt>
                <c:pt idx="13">
                  <c:v>Qatar</c:v>
                </c:pt>
                <c:pt idx="14">
                  <c:v>Canada</c:v>
                </c:pt>
              </c:strCache>
            </c:strRef>
          </c:cat>
          <c:val>
            <c:numRef>
              <c:f>Pivot_table!$B$273:$B$288</c:f>
              <c:numCache>
                <c:formatCode>General</c:formatCode>
                <c:ptCount val="15"/>
                <c:pt idx="0">
                  <c:v>8652</c:v>
                </c:pt>
                <c:pt idx="1">
                  <c:v>425</c:v>
                </c:pt>
                <c:pt idx="2">
                  <c:v>80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40</c:v>
                </c:pt>
                <c:pt idx="7">
                  <c:v>34</c:v>
                </c:pt>
                <c:pt idx="8">
                  <c:v>24</c:v>
                </c:pt>
                <c:pt idx="9">
                  <c:v>22</c:v>
                </c:pt>
                <c:pt idx="10">
                  <c:v>21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41-492D-B02C-B9352AA116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9"/>
        <c:overlap val="16"/>
        <c:axId val="205732240"/>
        <c:axId val="205765160"/>
      </c:barChart>
      <c:catAx>
        <c:axId val="20573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5765160"/>
        <c:crosses val="autoZero"/>
        <c:auto val="1"/>
        <c:lblAlgn val="ctr"/>
        <c:lblOffset val="100"/>
        <c:noMultiLvlLbl val="0"/>
      </c:catAx>
      <c:valAx>
        <c:axId val="2057651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732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[Zomato_Data_1.xlsx]Pivot_table!PivotTable28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800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c:rich>
      </c:tx>
      <c:layout>
        <c:manualLayout>
          <c:xMode val="edge"/>
          <c:yMode val="edge"/>
          <c:x val="0.12818627450980391"/>
          <c:y val="0.131338912306973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9429712830013892E-2"/>
          <c:y val="0.2190176906505539"/>
          <c:w val="0.47323432916473668"/>
          <c:h val="0.5635303439999374"/>
        </c:manualLayout>
      </c:layout>
      <c:doughnutChart>
        <c:varyColors val="1"/>
        <c:ser>
          <c:idx val="0"/>
          <c:order val="0"/>
          <c:tx>
            <c:strRef>
              <c:f>Pivot_table!$B$201</c:f>
              <c:strCache>
                <c:ptCount val="1"/>
                <c:pt idx="0">
                  <c:v>Total</c:v>
                </c:pt>
              </c:strCache>
            </c:strRef>
          </c:tx>
          <c:explosion val="22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0E-480F-A33C-FE0CDA939368}"/>
              </c:ext>
            </c:extLst>
          </c:dPt>
          <c:dPt>
            <c:idx val="1"/>
            <c:bubble3D val="0"/>
            <c:explosion val="2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0E-480F-A33C-FE0CDA939368}"/>
              </c:ext>
            </c:extLst>
          </c:dPt>
          <c:dLbls>
            <c:dLbl>
              <c:idx val="0"/>
              <c:layout>
                <c:manualLayout>
                  <c:x val="7.4201790952601418E-2"/>
                  <c:y val="0.1184495435656802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0E-480F-A33C-FE0CDA939368}"/>
                </c:ext>
              </c:extLst>
            </c:dLbl>
            <c:dLbl>
              <c:idx val="1"/>
              <c:layout>
                <c:manualLayout>
                  <c:x val="-0.14887525088775669"/>
                  <c:y val="-3.923988437579429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0E-480F-A33C-FE0CDA9393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Pivot_table!$A$202:$A$203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Pivot_table!$B$202:$B$203</c:f>
              <c:numCache>
                <c:formatCode>0</c:formatCode>
                <c:ptCount val="2"/>
                <c:pt idx="0">
                  <c:v>8384</c:v>
                </c:pt>
                <c:pt idx="1">
                  <c:v>1158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0E-480F-A33C-FE0CDA939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[Zomato_Data_1.xlsx]Pivot_table!PivotTable31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rgbClr val="FF0000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8.7530120630201116E-2"/>
          <c:y val="8.3644743333688432E-2"/>
          <c:w val="0.87716359575656055"/>
          <c:h val="0.70494806448639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Pivot_table!$B$205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241-4F25-A8BD-9EA2781E008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241-4F25-A8BD-9EA2781E00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Pivot_table!$A$206:$A$207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Pivot_table!$B$206:$B$207</c:f>
              <c:numCache>
                <c:formatCode>0.00</c:formatCode>
                <c:ptCount val="2"/>
                <c:pt idx="0">
                  <c:v>2.8085520038167937</c:v>
                </c:pt>
                <c:pt idx="1">
                  <c:v>3.4825561312607944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41-4F25-A8BD-9EA2781E0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762416"/>
        <c:axId val="205763200"/>
      </c:barChart>
      <c:catAx>
        <c:axId val="205762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 booking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5763200"/>
        <c:crosses val="autoZero"/>
        <c:auto val="1"/>
        <c:lblAlgn val="ctr"/>
        <c:lblOffset val="100"/>
        <c:noMultiLvlLbl val="0"/>
      </c:catAx>
      <c:valAx>
        <c:axId val="205763200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05762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[Zomato_Data_1.xlsx]Pivot_table!PivotTable29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2083333333333333"/>
          <c:y val="0.151769409776946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728732437857031E-2"/>
          <c:y val="0.30004747964878847"/>
          <c:w val="0.46967210900108075"/>
          <c:h val="0.55928843036325837"/>
        </c:manualLayout>
      </c:layout>
      <c:doughnutChart>
        <c:varyColors val="1"/>
        <c:ser>
          <c:idx val="0"/>
          <c:order val="0"/>
          <c:tx>
            <c:strRef>
              <c:f>Pivot_table!$F$202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C8-4B65-828A-5199CD2AE30B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C8-4B65-828A-5199CD2AE30B}"/>
              </c:ext>
            </c:extLst>
          </c:dPt>
          <c:dLbls>
            <c:dLbl>
              <c:idx val="0"/>
              <c:layout>
                <c:manualLayout>
                  <c:x val="1.2751466728423652E-2"/>
                  <c:y val="0.1922165090369903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C8-4B65-828A-5199CD2AE30B}"/>
                </c:ext>
              </c:extLst>
            </c:dLbl>
            <c:dLbl>
              <c:idx val="1"/>
              <c:layout>
                <c:manualLayout>
                  <c:x val="-0.11539736760846071"/>
                  <c:y val="-8.787664851592780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C8-4B65-828A-5199CD2AE3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Pivot_table!$E$203:$E$204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Pivot_table!$F$203:$F$204</c:f>
              <c:numCache>
                <c:formatCode>0</c:formatCode>
                <c:ptCount val="2"/>
                <c:pt idx="0">
                  <c:v>7091</c:v>
                </c:pt>
                <c:pt idx="1">
                  <c:v>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C8-4B65-828A-5199CD2AE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[Zomato_Data_1.xlsx]Pivot_table!PivotTable32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6.1111111111111109E-2"/>
          <c:y val="0.19100431300061615"/>
          <c:w val="0.87777777777777777"/>
          <c:h val="0.696868344322024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Pivot_table!$F$205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AC-442E-9B9F-F21C0AB8CD5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FAC-442E-9B9F-F21C0AB8CD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Pivot_table!$E$206:$E$207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Pivot_table!$F$206:$F$207</c:f>
              <c:numCache>
                <c:formatCode>0.00</c:formatCode>
                <c:ptCount val="2"/>
                <c:pt idx="0">
                  <c:v>2.7528980397687173</c:v>
                </c:pt>
                <c:pt idx="1">
                  <c:v>3.2880048959608361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AC-442E-9B9F-F21C0AB8C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676888"/>
        <c:axId val="206674928"/>
      </c:barChart>
      <c:catAx>
        <c:axId val="206676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6674928"/>
        <c:crosses val="autoZero"/>
        <c:auto val="1"/>
        <c:lblAlgn val="ctr"/>
        <c:lblOffset val="100"/>
        <c:noMultiLvlLbl val="0"/>
      </c:catAx>
      <c:valAx>
        <c:axId val="206674928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06676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0.60056</cdr:x>
      <cdr:y>0.03528</cdr:y>
    </cdr:from>
    <cdr:to>
      <cdr:x>0.93452</cdr:x>
      <cdr:y>0.15092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C18CEB33-A8D9-687A-60BB-59A238FAB494}"/>
            </a:ext>
          </a:extLst>
        </cdr:cNvPr>
        <cdr:cNvSpPr txBox="1"/>
      </cdr:nvSpPr>
      <cdr:spPr>
        <a:xfrm xmlns:a="http://schemas.openxmlformats.org/drawingml/2006/main">
          <a:off x="3362621" y="105640"/>
          <a:ext cx="1869891" cy="3463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Average Rating</a:t>
          </a:r>
        </a:p>
      </cdr:txBody>
    </cdr:sp>
  </cdr:relSizeAnchor>
  <cdr:relSizeAnchor xmlns:cdr="http://schemas.openxmlformats.org/drawingml/2006/chartDrawing">
    <cdr:from>
      <cdr:x>0.54554</cdr:x>
      <cdr:y>0</cdr:y>
    </cdr:from>
    <cdr:to>
      <cdr:x>0.54554</cdr:x>
      <cdr:y>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5A6A7962-7DF3-68A9-6B2B-2D62A92F43FB}"/>
            </a:ext>
          </a:extLst>
        </cdr:cNvPr>
        <cdr:cNvCxnSpPr/>
      </cdr:nvCxnSpPr>
      <cdr:spPr>
        <a:xfrm xmlns:a="http://schemas.openxmlformats.org/drawingml/2006/main">
          <a:off x="2826769" y="0"/>
          <a:ext cx="0" cy="4351338"/>
        </a:xfrm>
        <a:prstGeom xmlns:a="http://schemas.openxmlformats.org/drawingml/2006/main" prst="line">
          <a:avLst/>
        </a:prstGeom>
        <a:ln xmlns:a="http://schemas.openxmlformats.org/drawingml/2006/main" w="22225" cmpd="dbl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0.56025</cdr:x>
      <cdr:y>0</cdr:y>
    </cdr:from>
    <cdr:to>
      <cdr:x>0.56025</cdr:x>
      <cdr:y>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6E0E9048-7C80-F391-9C92-959346C25E89}"/>
            </a:ext>
          </a:extLst>
        </cdr:cNvPr>
        <cdr:cNvCxnSpPr/>
      </cdr:nvCxnSpPr>
      <cdr:spPr>
        <a:xfrm xmlns:a="http://schemas.openxmlformats.org/drawingml/2006/main">
          <a:off x="2902972" y="0"/>
          <a:ext cx="0" cy="4351338"/>
        </a:xfrm>
        <a:prstGeom xmlns:a="http://schemas.openxmlformats.org/drawingml/2006/main" prst="line">
          <a:avLst/>
        </a:prstGeom>
        <a:ln xmlns:a="http://schemas.openxmlformats.org/drawingml/2006/main" w="15875" cmpd="sng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0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9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46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7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6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98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6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46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8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7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3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0225B-3099-4BCC-8814-DD7C2A07BD3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77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D98F2B-21AF-26EB-DD23-188F98FD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51" y="989013"/>
            <a:ext cx="4309909" cy="123394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Analysis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2F1844A-31E1-32EB-EA06-CC3C19383D4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1" r="16861"/>
          <a:stretch>
            <a:fillRect/>
          </a:stretch>
        </p:blipFill>
        <p:spPr>
          <a:xfrm>
            <a:off x="5183188" y="835743"/>
            <a:ext cx="6241896" cy="5025308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3E1046-76CC-84B5-3633-C136B7659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0334" y="5126867"/>
            <a:ext cx="1760526" cy="74212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hobhit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Pandey</a:t>
            </a:r>
          </a:p>
        </p:txBody>
      </p:sp>
    </p:spTree>
    <p:extLst>
      <p:ext uri="{BB962C8B-B14F-4D97-AF65-F5344CB8AC3E}">
        <p14:creationId xmlns:p14="http://schemas.microsoft.com/office/powerpoint/2010/main" val="389716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6FF26C-2174-E704-8164-9B04F4B1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6DD83-E82F-F8D8-407C-38AE5FCA9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Zomato is a leading food-tech company that connects users with restaurants for dining, delivery, and table reservations.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Initially a restaurant discovery platform, it evolved into a comprehensive service catering to both customers and restaurant partners.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company enables users to browse menus, read reviews, order food, and even book tables, simplifying the dining experience.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Over time, Zomato expanded its operations to multiple countries, offering diverse cuisine options and supporting local food businesses.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Competing with major players in the industry, Zomato continues to innovate by improving accessibility, affordability, and food quality, making it a key player in the online food ecosystem</a:t>
            </a: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3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4898-4D07-5BA3-BBC0-A62659B4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1F9F-2D1D-33CA-8916-4BBB9AD31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79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Zomato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expansion team is focused on identifying high-potential markets and driving the successful launch of new restaurant locations across strategic geographies. The core objective of this initiative is not just to increase footprint, but to build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profitable, sustainable outlets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align with customer demand patterns and local market dynamics.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involves developing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 and actionable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opening new restaurants.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3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3A24-3D65-71A8-9CE7-216DEA24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496"/>
            <a:ext cx="10515600" cy="79508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E8A9-C732-686D-54A4-4D76C5FF2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606"/>
            <a:ext cx="10515600" cy="917371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two tables—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Description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—containing a total of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combined attributes,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are: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2247D-4ECD-F667-C06C-0E1D05EBFA1E}"/>
              </a:ext>
            </a:extLst>
          </p:cNvPr>
          <p:cNvSpPr txBox="1"/>
          <p:nvPr/>
        </p:nvSpPr>
        <p:spPr>
          <a:xfrm>
            <a:off x="1327355" y="1992977"/>
            <a:ext cx="3392130" cy="3170099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 Verbose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7AE22-8108-FC13-2AD3-AEA920E1E343}"/>
              </a:ext>
            </a:extLst>
          </p:cNvPr>
          <p:cNvSpPr txBox="1"/>
          <p:nvPr/>
        </p:nvSpPr>
        <p:spPr>
          <a:xfrm>
            <a:off x="6340577" y="1992976"/>
            <a:ext cx="3392130" cy="3477875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Has_Table_booking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Has_Online_Delivery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Is_Delivering_now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Switch_to_order_menu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Price_Range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Average_cost_for_two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Date_key_opening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95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A0DC-FC6E-645B-2680-1D709496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1"/>
            <a:ext cx="10515600" cy="9139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02AF1-058E-F454-1A2C-E9305F27E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572729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values, checked duplicates &amp; format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date components, mapped country codes, unified currency to INR.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Excel functions &amp; pivot tables; aggregated by country, year &amp; rating; examined impact of online delivery &amp; table booking on ratings.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conditional formatting; created charts &amp; dashboards for insights.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50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F5AB-3548-A574-C1AD-B932AF9C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Key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764F-8663-7312-7186-5F1126E4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2206"/>
            <a:ext cx="10515600" cy="388066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9542 restaurants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in the data 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restaurants serve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1825 different cuisines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the restaurant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votes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per restaurant across the dataset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2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as per the entire dataset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Rs.934.39.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84779-25E4-EF5E-27EB-C951791E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0" y="1396182"/>
            <a:ext cx="9120192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3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2D823-5B48-CA9C-D7C1-FEA951F2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04" y="294967"/>
            <a:ext cx="5403696" cy="71038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Restaurant Count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ABE3F4-0667-5072-D54C-087D3306C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304" y="4824190"/>
            <a:ext cx="11352213" cy="381158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number of restaurants opened per year for the last 8 years is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1061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However,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2018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most restaurants opened i.e.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1102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2012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least opening of restaurants with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1022.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an increase of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2.13%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restaurants opened from the year 2010 to 2018.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C4F783-D749-44A9-11DC-EBDBA606E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32" y="1005349"/>
            <a:ext cx="6744929" cy="359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8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82F1-04B8-9599-D2A2-C5074C18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14" y="191729"/>
            <a:ext cx="5492186" cy="80132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Average Raing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5BB4A-AB6D-F8DF-0AA5-AC2048E6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902" y="5421040"/>
            <a:ext cx="11588186" cy="1225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Charts shows the average rating for each country.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rating for the entire data is 2.89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However, </a:t>
            </a: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Philippines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most average rating i.e. </a:t>
            </a: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4.47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least rating of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2.77.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D84A18-7961-27AB-1C80-0EEF6886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88" y="1203803"/>
            <a:ext cx="7521676" cy="41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5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D08D-7DCD-8F6C-4D99-87C22414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3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Cuisines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96EC1-0FB3-D74C-D97A-B7C7D972C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2" y="1722872"/>
            <a:ext cx="6204155" cy="3832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C9F4D-B930-C233-1402-3289643F4CE0}"/>
              </a:ext>
            </a:extLst>
          </p:cNvPr>
          <p:cNvSpPr txBox="1"/>
          <p:nvPr/>
        </p:nvSpPr>
        <p:spPr>
          <a:xfrm>
            <a:off x="2418405" y="5921522"/>
            <a:ext cx="839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chart highlights the ten cuisines with the highest average ratings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4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7A0F41-AE4A-B553-B640-5349C395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32" y="1297860"/>
            <a:ext cx="7177549" cy="4306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02D1F-C1E1-357A-31A5-9FEA33ADD090}"/>
              </a:ext>
            </a:extLst>
          </p:cNvPr>
          <p:cNvSpPr txBox="1"/>
          <p:nvPr/>
        </p:nvSpPr>
        <p:spPr>
          <a:xfrm>
            <a:off x="2259182" y="5906879"/>
            <a:ext cx="852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chart highlights the ten restaurants with the highest average ratings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483D00-088F-7EA5-8E9C-225E7158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1" y="115813"/>
            <a:ext cx="10515600" cy="118204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Restaurants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55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D5241D-E9DC-9EDD-116B-7C6FEFCAC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27" y="231058"/>
            <a:ext cx="5452857" cy="7620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Restaurant Count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D861B-9A4A-ADD7-B993-93FE82BDD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0626" y="5281578"/>
            <a:ext cx="10103515" cy="212456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chart represents Country wise Restaurant Count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accounted for the highest number of restaurants, making up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compared to other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has the least with only 4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FE8C89-5961-9DA1-4F4C-A74835403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715065"/>
              </p:ext>
            </p:extLst>
          </p:nvPr>
        </p:nvGraphicFramePr>
        <p:xfrm>
          <a:off x="1369736" y="1383488"/>
          <a:ext cx="8433026" cy="3429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2206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867BCA-5FB3-30CB-CDFB-A821EF02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Average Cost for two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C6168-E14E-9548-1B00-FFCF9758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973394"/>
            <a:ext cx="8160775" cy="3808959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923B75A-96B1-52C6-1746-07F731D63D1A}"/>
              </a:ext>
            </a:extLst>
          </p:cNvPr>
          <p:cNvSpPr txBox="1">
            <a:spLocks/>
          </p:cNvSpPr>
          <p:nvPr/>
        </p:nvSpPr>
        <p:spPr>
          <a:xfrm>
            <a:off x="838200" y="5144730"/>
            <a:ext cx="10097729" cy="23277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chart represents Average cost for 2 in INR for each country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Qutar accounted highest average cost for two of  Rs.49,641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has the least with only Rs.188.</a:t>
            </a:r>
          </a:p>
        </p:txBody>
      </p:sp>
    </p:spTree>
    <p:extLst>
      <p:ext uri="{BB962C8B-B14F-4D97-AF65-F5344CB8AC3E}">
        <p14:creationId xmlns:p14="http://schemas.microsoft.com/office/powerpoint/2010/main" val="251673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E4CA-7AEE-2116-B15E-E35847E3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 of countries for expanding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2CEF7-B2A0-6AE8-317C-2C666901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62"/>
            <a:ext cx="10515600" cy="50212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Restaurants : Max 60 for market control &amp; profitability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City      :  Max 5 for dominance &amp; strong presence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           :  Keep &lt; ₹4000 to boost footfall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Ratings       :  Cities &lt; 3.7 may signal low service but offer growth potential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countries and Cities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r>
              <a:rPr lang="en-IN" dirty="0"/>
              <a:t> - 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Flaxton, Paynesville, Montville.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Chatham-Kent, Consort, Vineland Station, Yorkton.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Indonesia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Tangerang.</a:t>
            </a:r>
          </a:p>
        </p:txBody>
      </p:sp>
    </p:spTree>
    <p:extLst>
      <p:ext uri="{BB962C8B-B14F-4D97-AF65-F5344CB8AC3E}">
        <p14:creationId xmlns:p14="http://schemas.microsoft.com/office/powerpoint/2010/main" val="44466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2E353B-F61D-E30D-CC85-712E641E7A75}"/>
              </a:ext>
            </a:extLst>
          </p:cNvPr>
          <p:cNvGrpSpPr/>
          <p:nvPr/>
        </p:nvGrpSpPr>
        <p:grpSpPr>
          <a:xfrm>
            <a:off x="1828800" y="1266401"/>
            <a:ext cx="7024644" cy="3254324"/>
            <a:chOff x="3199443" y="1290851"/>
            <a:chExt cx="3681176" cy="23280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FD7371-460A-3DDA-E4A4-9FA5D4481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9443" y="1290851"/>
              <a:ext cx="3681176" cy="232809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634702-EA42-706A-C7FE-89482E563EE1}"/>
                </a:ext>
              </a:extLst>
            </p:cNvPr>
            <p:cNvSpPr txBox="1"/>
            <p:nvPr/>
          </p:nvSpPr>
          <p:spPr>
            <a:xfrm>
              <a:off x="4111963" y="1369454"/>
              <a:ext cx="2556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Restaurant count</a:t>
              </a:r>
            </a:p>
          </p:txBody>
        </p:sp>
      </p:grp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0D7CB8C-7548-0455-A612-653D65C764EE}"/>
              </a:ext>
            </a:extLst>
          </p:cNvPr>
          <p:cNvSpPr txBox="1">
            <a:spLocks/>
          </p:cNvSpPr>
          <p:nvPr/>
        </p:nvSpPr>
        <p:spPr>
          <a:xfrm>
            <a:off x="330739" y="4520725"/>
            <a:ext cx="11051458" cy="21381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restaurant distribution highlights ideal expansion opportunities, assesses competition, and supports data-driven growth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has the least restaurant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Zealand having the most Restaurant Count.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7D063-D9FE-A8A0-8BF3-37FF72808699}"/>
              </a:ext>
            </a:extLst>
          </p:cNvPr>
          <p:cNvSpPr txBox="1"/>
          <p:nvPr/>
        </p:nvSpPr>
        <p:spPr>
          <a:xfrm>
            <a:off x="330739" y="354785"/>
            <a:ext cx="5788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63033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E0F27B-44D8-7457-B382-B6BBAF1FC1BB}"/>
              </a:ext>
            </a:extLst>
          </p:cNvPr>
          <p:cNvSpPr txBox="1"/>
          <p:nvPr/>
        </p:nvSpPr>
        <p:spPr>
          <a:xfrm>
            <a:off x="1075921" y="280220"/>
            <a:ext cx="5788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B955F2-C48B-DC8D-3831-5EB9EAE2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146" y="1247645"/>
            <a:ext cx="6982762" cy="3192688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4779B8E-FABC-C670-542E-9E9746D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913" y="4544806"/>
            <a:ext cx="10040158" cy="189872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City-to-restaurant ratio analysis aids in identifying ideal expansion countries, market opportunities, and strategic growth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and Australia have the least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having the highest ratio.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94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70EA-2F8B-BFC6-839F-4E0F9842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6" y="149090"/>
            <a:ext cx="10515600" cy="83441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AA3826-8A6A-22B4-4BE3-2D7C8CF619B4}"/>
              </a:ext>
            </a:extLst>
          </p:cNvPr>
          <p:cNvGrpSpPr/>
          <p:nvPr/>
        </p:nvGrpSpPr>
        <p:grpSpPr>
          <a:xfrm>
            <a:off x="1868129" y="1187071"/>
            <a:ext cx="7463878" cy="3145647"/>
            <a:chOff x="3156155" y="1002405"/>
            <a:chExt cx="5078978" cy="40367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F059E7-BC5F-6A6A-CAC7-A5F26154D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6155" y="1371737"/>
              <a:ext cx="5078978" cy="36674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F5F9E8-52E9-51A6-D632-103D23DE97F3}"/>
                </a:ext>
              </a:extLst>
            </p:cNvPr>
            <p:cNvSpPr txBox="1"/>
            <p:nvPr/>
          </p:nvSpPr>
          <p:spPr>
            <a:xfrm>
              <a:off x="4407311" y="1002405"/>
              <a:ext cx="2900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Country vs Average rating</a:t>
              </a:r>
            </a:p>
          </p:txBody>
        </p:sp>
      </p:grp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686A5EF-6F10-E824-2171-F13F95A8524A}"/>
              </a:ext>
            </a:extLst>
          </p:cNvPr>
          <p:cNvSpPr txBox="1">
            <a:spLocks/>
          </p:cNvSpPr>
          <p:nvPr/>
        </p:nvSpPr>
        <p:spPr>
          <a:xfrm>
            <a:off x="529540" y="4705254"/>
            <a:ext cx="10803194" cy="176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Country-wise average rating analysis helps identify optimal expansion markets, assess                  competition and drive strategic growth decisions.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India having the least Average rating 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Australia  having the most Average rating.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89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E17E6D-8220-28AF-157F-94C07E63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748"/>
            <a:ext cx="10515600" cy="83441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EA2003-B8DF-A391-2DE2-4E949DCCDC06}"/>
              </a:ext>
            </a:extLst>
          </p:cNvPr>
          <p:cNvGrpSpPr/>
          <p:nvPr/>
        </p:nvGrpSpPr>
        <p:grpSpPr>
          <a:xfrm>
            <a:off x="2772697" y="1199536"/>
            <a:ext cx="6317225" cy="2987904"/>
            <a:chOff x="8160775" y="1311197"/>
            <a:chExt cx="3558046" cy="26975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4D5116-618B-A84C-CD2E-EAF3DD273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0775" y="1311197"/>
              <a:ext cx="3558046" cy="2697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747806-F2E6-13AE-2ADF-720EBC9557BC}"/>
                </a:ext>
              </a:extLst>
            </p:cNvPr>
            <p:cNvSpPr txBox="1"/>
            <p:nvPr/>
          </p:nvSpPr>
          <p:spPr>
            <a:xfrm>
              <a:off x="8332840" y="1323180"/>
              <a:ext cx="2900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Country vs Avg_cost_for_2</a:t>
              </a:r>
            </a:p>
          </p:txBody>
        </p:sp>
      </p:grp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DAAFE76-18E7-6DAF-7442-808B803E3674}"/>
              </a:ext>
            </a:extLst>
          </p:cNvPr>
          <p:cNvSpPr txBox="1">
            <a:spLocks/>
          </p:cNvSpPr>
          <p:nvPr/>
        </p:nvSpPr>
        <p:spPr>
          <a:xfrm>
            <a:off x="744196" y="4410780"/>
            <a:ext cx="10832690" cy="1904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average cost analysis helps identify ideal expansion markets, evaluate competition, and support strategic growth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of America is the most expensive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is quite affordable.</a:t>
            </a:r>
          </a:p>
        </p:txBody>
      </p:sp>
    </p:spTree>
    <p:extLst>
      <p:ext uri="{BB962C8B-B14F-4D97-AF65-F5344CB8AC3E}">
        <p14:creationId xmlns:p14="http://schemas.microsoft.com/office/powerpoint/2010/main" val="3758765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0029-A2B4-1F25-626A-51E43491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221892"/>
            <a:ext cx="10515600" cy="60826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C21C3-9001-9F83-AD91-004B74A1B1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87379" y="1086188"/>
            <a:ext cx="4680156" cy="5286836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6658F9-49F0-1BF2-1AFF-5C8E1F43C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160" y="1438428"/>
            <a:ext cx="6757219" cy="5286837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Australia</a:t>
            </a:r>
            <a:r>
              <a:rPr lang="en-IN" sz="7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6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order for 2 - 1350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Flaxton/Montville: 2000+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Paynesville: 6500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Canada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Order value for two: 2200+   Vineyard Station: 4500+ 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National rating: 3.5; some cities: ~3,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signaling demand for quality food.</a:t>
            </a:r>
          </a:p>
          <a:p>
            <a:pPr lvl="1" algn="just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Indonesia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Jakarta hosts 65% of restaurants (city-to-restaurant ratio: 5), while other cities 	average 2 per location.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Tangerang’s AOV for two: 1300; 4-star rating suggests better food could boost 	AOV.</a:t>
            </a:r>
            <a:endParaRPr lang="en-IN" sz="5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FF04D-1940-72F2-C802-1C958481083D}"/>
              </a:ext>
            </a:extLst>
          </p:cNvPr>
          <p:cNvSpPr txBox="1"/>
          <p:nvPr/>
        </p:nvSpPr>
        <p:spPr>
          <a:xfrm>
            <a:off x="779206" y="830160"/>
            <a:ext cx="2871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selection</a:t>
            </a:r>
          </a:p>
        </p:txBody>
      </p:sp>
    </p:spTree>
    <p:extLst>
      <p:ext uri="{BB962C8B-B14F-4D97-AF65-F5344CB8AC3E}">
        <p14:creationId xmlns:p14="http://schemas.microsoft.com/office/powerpoint/2010/main" val="708497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D34B-70DA-2CF9-2A7B-B4C783C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Selection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B22D85-3E65-BD19-D090-A5F09893C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51904"/>
              </p:ext>
            </p:extLst>
          </p:nvPr>
        </p:nvGraphicFramePr>
        <p:xfrm>
          <a:off x="943897" y="1415845"/>
          <a:ext cx="8691717" cy="3108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70815">
                  <a:extLst>
                    <a:ext uri="{9D8B030D-6E8A-4147-A177-3AD203B41FA5}">
                      <a16:colId xmlns:a16="http://schemas.microsoft.com/office/drawing/2014/main" val="4267303455"/>
                    </a:ext>
                  </a:extLst>
                </a:gridCol>
                <a:gridCol w="3000631">
                  <a:extLst>
                    <a:ext uri="{9D8B030D-6E8A-4147-A177-3AD203B41FA5}">
                      <a16:colId xmlns:a16="http://schemas.microsoft.com/office/drawing/2014/main" val="2850068770"/>
                    </a:ext>
                  </a:extLst>
                </a:gridCol>
                <a:gridCol w="2620271">
                  <a:extLst>
                    <a:ext uri="{9D8B030D-6E8A-4147-A177-3AD203B41FA5}">
                      <a16:colId xmlns:a16="http://schemas.microsoft.com/office/drawing/2014/main" val="3996900550"/>
                    </a:ext>
                  </a:extLst>
                </a:gridCol>
              </a:tblGrid>
              <a:tr h="41353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6857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Pizza - Italian, American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Pizza - Italian, American, 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Sushi, Japanese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1724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Food - Burger, Steak, Desserts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Mediterranean, Seafood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Indonesian, Sunda, Asian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862759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Mediterranean, Seafood, Continental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Asian, Sushi, Tapas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Coffee, Tea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09047"/>
                  </a:ext>
                </a:extLst>
              </a:tr>
              <a:tr h="33082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Australian Breakfast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Italian, Desserts, Burger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753778"/>
                  </a:ext>
                </a:extLst>
              </a:tr>
              <a:tr h="33082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Coffee,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151619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CEFA7D6-6023-0DD8-E32A-221296BD41F5}"/>
              </a:ext>
            </a:extLst>
          </p:cNvPr>
          <p:cNvSpPr txBox="1">
            <a:spLocks/>
          </p:cNvSpPr>
          <p:nvPr/>
        </p:nvSpPr>
        <p:spPr>
          <a:xfrm>
            <a:off x="562897" y="5062279"/>
            <a:ext cx="10636045" cy="1243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Adapting recommended cuisines to each country can boost customer feedback, improve ratings, and drive revenue growth, especially in markets with ratings near 4 or above.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322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C23E-A25F-6F36-7BEC-7E1EEF73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77541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Table booking feature on rating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225D6A-0583-D227-9D51-D70A2771F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91920"/>
            <a:ext cx="9977284" cy="147900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 boosts restaurant ratings.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table booking in Australia, Canada, and Indonesia boosts convenience, reliability, and ratings.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do not offer Table booking.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0C3E35-74F1-20BC-64BE-15120980D2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8726216"/>
              </p:ext>
            </p:extLst>
          </p:nvPr>
        </p:nvGraphicFramePr>
        <p:xfrm>
          <a:off x="2358640" y="1111045"/>
          <a:ext cx="5599148" cy="2994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CEAD13-F6EE-1B51-479F-F887C27D41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293925"/>
              </p:ext>
            </p:extLst>
          </p:nvPr>
        </p:nvGraphicFramePr>
        <p:xfrm>
          <a:off x="5267631" y="1552353"/>
          <a:ext cx="2843981" cy="2562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04317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8AC6-921C-4E5F-CFD0-E4568491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2355"/>
            <a:ext cx="10515600" cy="80491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Online Delivery feature on rating </a:t>
            </a:r>
            <a:endParaRPr lang="en-IN" sz="3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BEACA0-E015-4788-CD3A-D62F00F2F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0224" y="4772378"/>
            <a:ext cx="10515599" cy="167095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improves ratings and customer satisfaction.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online delivery in Australia, Canada, and Indonesia boosts convenience, reliability, and ratings.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do not offer online delivery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DDDBCF-C6CA-B8F7-04BD-870B5FFB16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13800827"/>
              </p:ext>
            </p:extLst>
          </p:nvPr>
        </p:nvGraphicFramePr>
        <p:xfrm>
          <a:off x="2691582" y="1351935"/>
          <a:ext cx="5307281" cy="3023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357A45A-2781-1C06-2286-E46B7C5673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701729"/>
              </p:ext>
            </p:extLst>
          </p:nvPr>
        </p:nvGraphicFramePr>
        <p:xfrm>
          <a:off x="5691959" y="1618464"/>
          <a:ext cx="2386783" cy="271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F58B54-A435-BF92-9B2C-23BB6D0D7746}"/>
              </a:ext>
            </a:extLst>
          </p:cNvPr>
          <p:cNvSpPr txBox="1"/>
          <p:nvPr/>
        </p:nvSpPr>
        <p:spPr>
          <a:xfrm>
            <a:off x="5911877" y="175853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</a:p>
        </p:txBody>
      </p:sp>
    </p:spTree>
    <p:extLst>
      <p:ext uri="{BB962C8B-B14F-4D97-AF65-F5344CB8AC3E}">
        <p14:creationId xmlns:p14="http://schemas.microsoft.com/office/powerpoint/2010/main" val="388227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285FC3-4530-E6CE-D0D2-CEB3A38FF07C}"/>
              </a:ext>
            </a:extLst>
          </p:cNvPr>
          <p:cNvSpPr txBox="1"/>
          <p:nvPr/>
        </p:nvSpPr>
        <p:spPr>
          <a:xfrm>
            <a:off x="108155" y="56096"/>
            <a:ext cx="5043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4272"/>
            <a:ext cx="11967380" cy="608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5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5DC9-7C94-72DD-651F-9E2D5798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58648"/>
            <a:ext cx="10515600" cy="61810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8945F-72F9-C5A7-AC0D-296B808D6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29" y="983226"/>
            <a:ext cx="10704871" cy="564371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reveals strong global expansion potential. Targeting high-demand regions, aligning with demographics, and leveraging strengths ensures strategic growth. This approach boosts market presence, enhances dining experiences, and drives sustainable success.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Target underserved regions: Focus on countries with a high demand for restaurants but a limited presence, maximizing growth opportunities.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Optimize pricing strategy: Higher-priced restaurants tend to receive better ratings. Choosing a price range between 3–4 ensures financial stability while maintaining quality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Expand into untapped markets: Online delivery and table booking present significant growth potential, offering new revenue streams.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Enhance cuisine quality and pricing: Maintaining high-quality cuisine and selecting an appropriate price range can boost restaurant ratings and overall success.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918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73;p18">
            <a:extLst>
              <a:ext uri="{FF2B5EF4-FFF2-40B4-BE49-F238E27FC236}">
                <a16:creationId xmlns:a16="http://schemas.microsoft.com/office/drawing/2014/main" id="{57E15724-7542-426B-6C00-C1E3574378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49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</TotalTime>
  <Words>1267</Words>
  <Application>Microsoft Office PowerPoint</Application>
  <PresentationFormat>Widescreen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Zomato Restaurant Analysis</vt:lpstr>
      <vt:lpstr>About company</vt:lpstr>
      <vt:lpstr>Business problem statement</vt:lpstr>
      <vt:lpstr>Data Overview</vt:lpstr>
      <vt:lpstr>Approach</vt:lpstr>
      <vt:lpstr>Objective Key Metrics </vt:lpstr>
      <vt:lpstr>Year-wise Restaurant Count </vt:lpstr>
      <vt:lpstr>Country wise Average Raing </vt:lpstr>
      <vt:lpstr>Top 10 Cuisines</vt:lpstr>
      <vt:lpstr>Top 10 Restaurants</vt:lpstr>
      <vt:lpstr>Country wise Restaurant Count </vt:lpstr>
      <vt:lpstr>Country wise Average Cost for two</vt:lpstr>
      <vt:lpstr>Suggestion of countries for expanding</vt:lpstr>
      <vt:lpstr>PowerPoint Presentation</vt:lpstr>
      <vt:lpstr>PowerPoint Presentation</vt:lpstr>
      <vt:lpstr>Visualization</vt:lpstr>
      <vt:lpstr>Visualization</vt:lpstr>
      <vt:lpstr>Visualization </vt:lpstr>
      <vt:lpstr>Cuisine Selection</vt:lpstr>
      <vt:lpstr>Impact of Table booking feature on rating </vt:lpstr>
      <vt:lpstr>Impact of Online Delivery feature on rating 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Analysis</dc:title>
  <dc:creator>Arvind</dc:creator>
  <cp:lastModifiedBy>SHOBHIT PANDEY</cp:lastModifiedBy>
  <cp:revision>46</cp:revision>
  <dcterms:created xsi:type="dcterms:W3CDTF">2025-05-18T15:06:46Z</dcterms:created>
  <dcterms:modified xsi:type="dcterms:W3CDTF">2026-04-07T12:56:48Z</dcterms:modified>
</cp:coreProperties>
</file>